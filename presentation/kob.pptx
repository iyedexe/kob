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91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FFFFFF"/>
                </a:solidFill>
                <a:latin typeface="Calibri"/>
              </a:rPr>
              <a:t>kob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CFE3DF"/>
                </a:solidFill>
                <a:latin typeface="Calibri"/>
              </a:rPr>
              <a:t>A tiny, self-discovering Parquet query server — served as Apache Arrow, fast.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8A949E"/>
                </a:solidFill>
                <a:latin typeface="Calibri"/>
              </a:rPr>
              <a:t>Drop Parquet in a folder → a discoverable, filterable, blazing-fast Arrow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49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E3DF"/>
                </a:solidFill>
                <a:latin typeface="Calibri"/>
              </a:rPr>
              <a:t>Apache Arrow Flight   ·   DuckDB   ·   FastAPI / Swagger          </a:t>
            </a:r>
            <a:r>
              <a:rPr sz="1300" b="1" i="0">
                <a:solidFill>
                  <a:srgbClr val="2A9D8F"/>
                </a:solidFill>
                <a:latin typeface="Calibri"/>
              </a:rPr>
              <a:t>github.com/iyedexe/kob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libri"/>
              </a:rPr>
              <a:t>Serving a folder of Parquet shouldn't be hard — or slow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9202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A9D8F"/>
                </a:solidFill>
                <a:latin typeface="Calibri"/>
              </a:rPr>
              <a:t>kob</a:t>
            </a:r>
            <a:r>
              <a:rPr sz="1000" b="0" i="0">
                <a:solidFill>
                  <a:srgbClr val="8A949E"/>
                </a:solidFill>
                <a:latin typeface="Calibri"/>
              </a:rPr>
              <a:t>  ·  self-discovering Parquet → Apache Arrow</a:t>
            </a:r>
            <a:r>
              <a:rPr sz="1000" b="0" i="0">
                <a:solidFill>
                  <a:srgbClr val="8A949E"/>
                </a:solidFill>
                <a:latin typeface="Calibri"/>
              </a:rPr>
              <a:t>          2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D2B3A"/>
                </a:solidFill>
                <a:latin typeface="Calibri"/>
              </a:rPr>
              <a:t>A producer microservice writes Parquet to a folder. You must serve it, read-only, to Python / C# / C++ / Excel clients. Every usual option is overkill or slow: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3429000" cy="173736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82296" cy="1737360"/>
          </a:xfrm>
          <a:prstGeom prst="round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32304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64653"/>
                </a:solidFill>
                <a:latin typeface="Calibri"/>
              </a:rPr>
              <a:t>A warehouse / broker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D2B3A"/>
                </a:solidFill>
                <a:latin typeface="Calibri"/>
              </a:rPr>
              <a:t>Heavy infrastructure in front of what is already a queryable, columnar file format.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286000"/>
            <a:ext cx="3429000" cy="173736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2286000"/>
            <a:ext cx="82296" cy="1737360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432304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64653"/>
                </a:solidFill>
                <a:latin typeface="Calibri"/>
              </a:rPr>
              <a:t>A hand-written API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D2B3A"/>
                </a:solidFill>
                <a:latin typeface="Calibri"/>
              </a:rPr>
              <a:t>Declare a schema + catalog in code, then redeploy on every new dataset, partition or column.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2286000"/>
            <a:ext cx="3429000" cy="173736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55864" y="2286000"/>
            <a:ext cx="82296" cy="173736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2432304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64653"/>
                </a:solidFill>
                <a:latin typeface="Calibri"/>
              </a:rPr>
              <a:t>A JSON / Protobuf endpoint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D2B3A"/>
                </a:solidFill>
                <a:latin typeface="Calibri"/>
              </a:rPr>
              <a:t>Pays the serialization tax — Arrow's FAQ puts (de)serialization at 80–90% of compute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3484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What we actually want:  </a:t>
            </a:r>
            <a:r>
              <a:rPr sz="1700" b="1" i="0">
                <a:solidFill>
                  <a:srgbClr val="2A9D8F"/>
                </a:solidFill>
                <a:latin typeface="Calibri"/>
              </a:rPr>
              <a:t>self-discovering</a:t>
            </a:r>
            <a:r>
              <a:rPr sz="1700" b="0" i="0">
                <a:solidFill>
                  <a:srgbClr val="1D2B3A"/>
                </a:solidFill>
                <a:latin typeface="Calibri"/>
              </a:rPr>
              <a:t> (no hardcoded schema)  ·  </a:t>
            </a:r>
            <a:r>
              <a:rPr sz="1700" b="1" i="0">
                <a:solidFill>
                  <a:srgbClr val="2A9D8F"/>
                </a:solidFill>
                <a:latin typeface="Calibri"/>
              </a:rPr>
              <a:t>minimal</a:t>
            </a:r>
            <a:r>
              <a:rPr sz="1700" b="0" i="0">
                <a:solidFill>
                  <a:srgbClr val="1D2B3A"/>
                </a:solidFill>
                <a:latin typeface="Calibri"/>
              </a:rPr>
              <a:t> (tiny footprint)  ·  </a:t>
            </a:r>
            <a:r>
              <a:rPr sz="1700" b="1" i="0">
                <a:solidFill>
                  <a:srgbClr val="2A9D8F"/>
                </a:solidFill>
                <a:latin typeface="Calibri"/>
              </a:rPr>
              <a:t>blazing fast</a:t>
            </a:r>
            <a:r>
              <a:rPr sz="1700" b="0" i="0">
                <a:solidFill>
                  <a:srgbClr val="1D2B3A"/>
                </a:solidFill>
                <a:latin typeface="Calibri"/>
              </a:rPr>
              <a:t> (no serialization tax).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libri"/>
              </a:rPr>
              <a:t>What kob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9202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A9D8F"/>
                </a:solidFill>
                <a:latin typeface="Calibri"/>
              </a:rPr>
              <a:t>kob</a:t>
            </a:r>
            <a:r>
              <a:rPr sz="1000" b="0" i="0">
                <a:solidFill>
                  <a:srgbClr val="8A949E"/>
                </a:solidFill>
                <a:latin typeface="Calibri"/>
              </a:rPr>
              <a:t>  ·  self-discovering Parquet → Apache Arrow</a:t>
            </a:r>
            <a:r>
              <a:rPr sz="1000" b="0" i="0">
                <a:solidFill>
                  <a:srgbClr val="8A949E"/>
                </a:solidFill>
                <a:latin typeface="Calibri"/>
              </a:rPr>
              <a:t>          3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D2B3A"/>
                </a:solidFill>
                <a:latin typeface="Calibri"/>
              </a:rPr>
              <a:t>Point it at a directory; it discovers your datasets, tells clients what they can filter on per folder and per column, and streams results as Apache Arrow. ~750 lines of core server.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5349240" cy="16459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82296" cy="16459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78024"/>
            <a:ext cx="4983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64653"/>
                </a:solidFill>
                <a:latin typeface="Calibri"/>
              </a:rPr>
              <a:t>Tiny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D2B3A"/>
                </a:solidFill>
                <a:latin typeface="Calibri"/>
              </a:rPr>
              <a:t>Four dependencies — DuckDB, PyArrow, FastAPI, uvicorn. No DB, no broker, no config, no schema.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331720"/>
            <a:ext cx="5349240" cy="16459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2331720"/>
            <a:ext cx="82296" cy="1645920"/>
          </a:xfrm>
          <a:prstGeom prst="round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478024"/>
            <a:ext cx="4983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64653"/>
                </a:solidFill>
                <a:latin typeface="Calibri"/>
              </a:rPr>
              <a:t>Self-configuring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D2B3A"/>
                </a:solidFill>
                <a:latin typeface="Calibri"/>
              </a:rPr>
              <a:t>Drop new files / partitions / datasets — they appear live. Discovery reads folder names + one file's metadata; never scans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60520"/>
            <a:ext cx="5349240" cy="16459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4160520"/>
            <a:ext cx="82296" cy="1645920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306824"/>
            <a:ext cx="4983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64653"/>
                </a:solidFill>
                <a:latin typeface="Calibri"/>
              </a:rPr>
              <a:t>Fast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D2B3A"/>
                </a:solidFill>
                <a:latin typeface="Calibri"/>
              </a:rPr>
              <a:t>DuckDB pushes partition/predicate/projection pruning into the scan; results stream as Arrow over Flight — nothing to deserialize.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160520"/>
            <a:ext cx="5349240" cy="1645920"/>
          </a:xfrm>
          <a:prstGeom prst="round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4160520"/>
            <a:ext cx="82296" cy="164592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306824"/>
            <a:ext cx="4983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64653"/>
                </a:solidFill>
                <a:latin typeface="Calibri"/>
              </a:rPr>
              <a:t>Safe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D2B3A"/>
                </a:solidFill>
                <a:latin typeface="Calibri"/>
              </a:rPr>
              <a:t>Read-only. Dataset names sandboxed to the root; columns/ops validated; every value a bound parameter (no SQL injection).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libri"/>
              </a:rPr>
              <a:t>Why Apache Arrow — the 30-second theory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9202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A9D8F"/>
                </a:solidFill>
                <a:latin typeface="Calibri"/>
              </a:rPr>
              <a:t>kob</a:t>
            </a:r>
            <a:r>
              <a:rPr sz="1000" b="0" i="0">
                <a:solidFill>
                  <a:srgbClr val="8A949E"/>
                </a:solidFill>
                <a:latin typeface="Calibri"/>
              </a:rPr>
              <a:t>  ·  self-discovering Parquet → Apache Arrow</a:t>
            </a:r>
            <a:r>
              <a:rPr sz="1000" b="0" i="0">
                <a:solidFill>
                  <a:srgbClr val="8A949E"/>
                </a:solidFill>
                <a:latin typeface="Calibri"/>
              </a:rPr>
              <a:t>          4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7607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64653"/>
                </a:solidFill>
                <a:latin typeface="Calibri"/>
              </a:rPr>
              <a:t>Row vs. columnar is the whole story: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D2B3A"/>
                </a:solidFill>
                <a:latin typeface="Calibri"/>
              </a:rPr>
              <a:t>●  JSON &amp; Protobuf are row-oriented. The sender encodes every value field-by-field; the receiver decodes every value and rebuilds columns.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D2B3A"/>
                </a:solidFill>
                <a:latin typeface="Calibri"/>
              </a:rPr>
              <a:t>●  Cost scales with rows × cols — and grows super-linearly with result size.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D2B3A"/>
                </a:solidFill>
                <a:latin typeface="Calibri"/>
              </a:rPr>
              <a:t>●  Arrow's columnar wire layout IS its in-memory layout. Reading a result is a header parse + buffer-pointer setup — essentially nothing to deserialize.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D2B3A"/>
                </a:solidFill>
                <a:latin typeface="Calibri"/>
              </a:rPr>
              <a:t>●  Arrow Flight uses Protobuf only for its tiny control envelope (tickets), never for the bulk data.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20840" y="1828800"/>
          <a:ext cx="47548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2801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109728" marT="36576" marB="36576"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Layout</a:t>
                      </a:r>
                    </a:p>
                  </a:txBody>
                  <a:tcPr marL="109728" marT="36576" marB="36576"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109728" marT="36576" marB="36576">
                    <a:solidFill>
                      <a:srgbClr val="26465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row, text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slowest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Protobuf</a:t>
                      </a:r>
                    </a:p>
                  </a:txBody>
                  <a:tcPr marL="109728" marT="36576" marB="36576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row, binary</a:t>
                      </a:r>
                    </a:p>
                  </a:txBody>
                  <a:tcPr marL="109728" marT="36576" marB="36576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binary ≠ fast</a:t>
                      </a:r>
                    </a:p>
                  </a:txBody>
                  <a:tcPr marL="109728" marT="36576" marB="36576"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Arrow IPC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columnar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near-zero decode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Arrow Flight</a:t>
                      </a:r>
                    </a:p>
                  </a:txBody>
                  <a:tcPr marL="109728" marT="36576" marB="36576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columnar + gRPC</a:t>
                      </a:r>
                    </a:p>
                  </a:txBody>
                  <a:tcPr marL="109728" marT="36576" marB="36576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the default</a:t>
                      </a:r>
                    </a:p>
                  </a:txBody>
                  <a:tcPr marL="109728" marT="36576" marB="36576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20840" y="452628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1">
                <a:solidFill>
                  <a:srgbClr val="264653"/>
                </a:solidFill>
                <a:latin typeface="Calibri"/>
              </a:rPr>
              <a:t>“(De)serialization can represent 80–90% of computing costs.”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49E"/>
                </a:solidFill>
                <a:latin typeface="Calibri"/>
              </a:rPr>
              <a:t>— Apache Arrow FAQ. That is exactly the cost Arrow removes.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libri"/>
              </a:rPr>
              <a:t>Architecture: Flight + Swagger, one 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9202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A9D8F"/>
                </a:solidFill>
                <a:latin typeface="Calibri"/>
              </a:rPr>
              <a:t>kob</a:t>
            </a:r>
            <a:r>
              <a:rPr sz="1000" b="0" i="0">
                <a:solidFill>
                  <a:srgbClr val="8A949E"/>
                </a:solidFill>
                <a:latin typeface="Calibri"/>
              </a:rPr>
              <a:t>  ·  self-discovering Parquet → Apache Arrow</a:t>
            </a:r>
            <a:r>
              <a:rPr sz="1000" b="0" i="0">
                <a:solidFill>
                  <a:srgbClr val="8A949E"/>
                </a:solidFill>
                <a:latin typeface="Calibri"/>
              </a:rPr>
              <a:t>          5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6692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64653"/>
                </a:solidFill>
                <a:latin typeface="Calibri"/>
              </a:rPr>
              <a:t>One straight line, folder → Arrow stream: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D2B3A"/>
                </a:solidFill>
                <a:latin typeface="Calibri"/>
              </a:rPr>
              <a:t>●  core — discover (catalog), validate the query (contract), execute on DuckDB → Arrow (engine).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D2B3A"/>
                </a:solidFill>
                <a:latin typeface="Calibri"/>
              </a:rPr>
              <a:t>●  server — the kob entry point: Flight + a Swagger HTTP control plane, one process, one engine.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D2B3A"/>
                </a:solidFill>
                <a:latin typeface="Calibri"/>
              </a:rPr>
              <a:t>●  demos — Arrow-over-HTTP / JSON / Protobuf servers, only to demonstrate the alternatives.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D2B3A"/>
                </a:solidFill>
                <a:latin typeface="Calibri"/>
              </a:rPr>
              <a:t>●  tools — sample-data generator, reference client, benchmark.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554480"/>
          <a:ext cx="489203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874519"/>
                <a:gridCol w="1874519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T="36576" marB="36576"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Arrow Flight</a:t>
                      </a:r>
                    </a:p>
                  </a:txBody>
                  <a:tcPr marL="109728" marT="36576" marB="36576"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Swagger HTTP</a:t>
                      </a:r>
                    </a:p>
                  </a:txBody>
                  <a:tcPr marL="109728" marT="36576" marB="36576">
                    <a:solidFill>
                      <a:srgbClr val="26465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for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machines, fast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humans, discovery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 marL="109728" marT="36576" marB="36576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8815 (gRPC)</a:t>
                      </a:r>
                    </a:p>
                  </a:txBody>
                  <a:tcPr marL="109728" marT="36576" marB="36576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8000 (/docs)</a:t>
                      </a:r>
                    </a:p>
                  </a:txBody>
                  <a:tcPr marL="109728" marT="36576" marB="36576"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payload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Arrow, zero-decode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D2B3A"/>
                          </a:solidFill>
                          <a:latin typeface="Calibri"/>
                        </a:rPr>
                        <a:t>JSON / CSV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0" y="4069080"/>
            <a:ext cx="4892040" cy="1371600"/>
          </a:xfrm>
          <a:prstGeom prst="roundRect">
            <a:avLst/>
          </a:prstGeom>
          <a:solidFill>
            <a:srgbClr val="1E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28016" bIns="128016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Consolas"/>
              </a:rPr>
              <a:t>$ uv run kob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Consolas"/>
              </a:rPr>
              <a:t>  data  (fast)    Flight   grpc://…:8815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E6EDF3"/>
                </a:solidFill>
                <a:latin typeface="Consolas"/>
              </a:rPr>
              <a:t>  docs  (Swagger) HTTP     http://…:8000/docs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libri"/>
              </a:rP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9202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A9D8F"/>
                </a:solidFill>
                <a:latin typeface="Calibri"/>
              </a:rPr>
              <a:t>kob</a:t>
            </a:r>
            <a:r>
              <a:rPr sz="1000" b="0" i="0">
                <a:solidFill>
                  <a:srgbClr val="8A949E"/>
                </a:solidFill>
                <a:latin typeface="Calibri"/>
              </a:rPr>
              <a:t>  ·  self-discovering Parquet → Apache Arrow</a:t>
            </a:r>
            <a:r>
              <a:rPr sz="1000" b="0" i="0">
                <a:solidFill>
                  <a:srgbClr val="8A949E"/>
                </a:solidFill>
                <a:latin typeface="Calibri"/>
              </a:rPr>
              <a:t>          6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486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64653"/>
                </a:solidFill>
                <a:latin typeface="Calibri"/>
              </a:rPr>
              <a:t>●  Arrow wins by 1–3 orders of magnitude</a:t>
            </a:r>
            <a:r>
              <a:rPr sz="1500" b="0" i="0">
                <a:solidFill>
                  <a:srgbClr val="1D2B3A"/>
                </a:solidFill>
                <a:latin typeface="Calibri"/>
              </a:rPr>
              <a:t> — 150–1750× faster than JSON, 5–56× faster than the best Protobuf.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64653"/>
                </a:solidFill>
                <a:latin typeface="Calibri"/>
              </a:rPr>
              <a:t>●  Binary ≠ fast.</a:t>
            </a:r>
            <a:r>
              <a:rPr sz="1500" b="0" i="0">
                <a:solidFill>
                  <a:srgbClr val="1D2B3A"/>
                </a:solidFill>
                <a:latin typeface="Calibri"/>
              </a:rPr>
              <a:t> Protobuf is binary and still 5–56× slower — it must parse every value.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64653"/>
                </a:solidFill>
                <a:latin typeface="Calibri"/>
              </a:rPr>
              <a:t>●  The gap grows with result size</a:t>
            </a:r>
            <a:r>
              <a:rPr sz="1500" b="0" i="0">
                <a:solidFill>
                  <a:srgbClr val="1D2B3A"/>
                </a:solidFill>
                <a:latin typeface="Calibri"/>
              </a:rPr>
              <a:t> — ~150× on 29k rows → ~1750× on 1.75M rows.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64653"/>
                </a:solidFill>
                <a:latin typeface="Calibri"/>
              </a:rPr>
              <a:t>●  JSON is a bandwidth hog too</a:t>
            </a:r>
            <a:r>
              <a:rPr sz="1500" b="0" i="0">
                <a:solidFill>
                  <a:srgbClr val="1D2B3A"/>
                </a:solidFill>
                <a:latin typeface="Calibri"/>
              </a:rPr>
              <a:t> — 8× heavier on the wire than Arrow + zstd.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64653"/>
                </a:solidFill>
                <a:latin typeface="Calibri"/>
              </a:rPr>
              <a:t>●  Same engine throughout.</a:t>
            </a:r>
            <a:r>
              <a:rPr sz="1500" b="0" i="0">
                <a:solidFill>
                  <a:srgbClr val="1D2B3A"/>
                </a:solidFill>
                <a:latin typeface="Calibri"/>
              </a:rPr>
              <a:t> Only the wire format changes — so the wire is the cause.</a:t>
            </a:r>
          </a:p>
        </p:txBody>
      </p:sp>
      <p:pic>
        <p:nvPicPr>
          <p:cNvPr id="8" name="Picture 7" descr="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120640" cy="22905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8064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8A949E"/>
                </a:solidFill>
                <a:latin typeface="Calibri"/>
              </a:rPr>
              <a:t>Speedup vs REST/JSON, 1.75M-row pull (medium dataset).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libri"/>
              </a:rPr>
              <a:t>Performance: same query, five wire formats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9202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A9D8F"/>
                </a:solidFill>
                <a:latin typeface="Calibri"/>
              </a:rPr>
              <a:t>kob</a:t>
            </a:r>
            <a:r>
              <a:rPr sz="1000" b="0" i="0">
                <a:solidFill>
                  <a:srgbClr val="8A949E"/>
                </a:solidFill>
                <a:latin typeface="Calibri"/>
              </a:rPr>
              <a:t>  ·  self-discovering Parquet → Apache Arrow</a:t>
            </a:r>
            <a:r>
              <a:rPr sz="1000" b="0" i="0">
                <a:solidFill>
                  <a:srgbClr val="8A949E"/>
                </a:solidFill>
                <a:latin typeface="Calibri"/>
              </a:rPr>
              <a:t>          7 / 9</a:t>
            </a:r>
          </a:p>
        </p:txBody>
      </p:sp>
      <p:pic>
        <p:nvPicPr>
          <p:cNvPr id="7" name="Picture 6" descr="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508760"/>
            <a:ext cx="7680960" cy="34451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1737360"/>
            <a:ext cx="23774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64653"/>
                </a:solidFill>
                <a:latin typeface="Calibri"/>
              </a:rPr>
              <a:t>1.75M rows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150" b="0" i="0">
                <a:solidFill>
                  <a:srgbClr val="8A949E"/>
                </a:solidFill>
                <a:latin typeface="Calibri"/>
              </a:rPr>
              <a:t>one query, one engine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Flight  </a:t>
            </a:r>
            <a:r>
              <a:rPr sz="1400" b="0" i="0">
                <a:solidFill>
                  <a:srgbClr val="1D2B3A"/>
                </a:solidFill>
                <a:latin typeface="Calibri"/>
              </a:rPr>
              <a:t>67 ms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E76F51"/>
                </a:solidFill>
                <a:latin typeface="Calibri"/>
              </a:rPr>
              <a:t>JSON  </a:t>
            </a:r>
            <a:r>
              <a:rPr sz="1400" b="0" i="0">
                <a:solidFill>
                  <a:srgbClr val="1D2B3A"/>
                </a:solidFill>
                <a:latin typeface="Calibri"/>
              </a:rPr>
              <a:t>117 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1">
                <a:solidFill>
                  <a:srgbClr val="264653"/>
                </a:solidFill>
                <a:latin typeface="Calibri"/>
              </a:rPr>
              <a:t>Same result, ~1750× apart.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49E"/>
                </a:solidFill>
                <a:latin typeface="Calibri"/>
              </a:rPr>
              <a:t>Pushdown happens before serialization — and compounds with picking a fast wire.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598932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8A949E"/>
                </a:solidFill>
                <a:latin typeface="Calibri"/>
              </a:rPr>
              <a:t>Apple M4, localhost loopback (understates Arrow's win on a real network). Source: docs/PERFORMANCE_REPORT.md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918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SEE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libri"/>
              </a:rPr>
              <a:t>Demo: one query, every transport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92024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A9D8F"/>
                </a:solidFill>
                <a:latin typeface="Calibri"/>
              </a:rPr>
              <a:t>kob</a:t>
            </a:r>
            <a:r>
              <a:rPr sz="1000" b="0" i="0">
                <a:solidFill>
                  <a:srgbClr val="8A949E"/>
                </a:solidFill>
                <a:latin typeface="Calibri"/>
              </a:rPr>
              <a:t>  ·  self-discovering Parquet → Apache Arrow</a:t>
            </a:r>
            <a:r>
              <a:rPr sz="1000" b="0" i="0">
                <a:solidFill>
                  <a:srgbClr val="8A949E"/>
                </a:solidFill>
                <a:latin typeface="Calibri"/>
              </a:rPr>
              <a:t>          8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577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D2B3A"/>
                </a:solidFill>
                <a:latin typeface="Calibri"/>
              </a:rPr>
              <a:t>A runnable notebook spins up all four transports, runs the SAME query over each, checks they return identical data, and times them.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264653"/>
                </a:solidFill>
                <a:latin typeface="Calibri"/>
              </a:rPr>
              <a:t>●  Arrow Flight  ·  Arrow-over-HTTP  ·  REST/JSON  ·  gRPC/Protobuf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D2B3A"/>
                </a:solidFill>
                <a:latin typeface="Calibri"/>
              </a:rPr>
              <a:t>●  Result:  </a:t>
            </a:r>
            <a:r>
              <a:rPr sz="1400" b="1" i="0">
                <a:solidFill>
                  <a:srgbClr val="2A9D8F"/>
                </a:solidFill>
                <a:latin typeface="Calibri"/>
              </a:rPr>
              <a:t>all four return the identical 14,006 rows</a:t>
            </a:r>
            <a:r>
              <a:rPr sz="1400" b="0" i="0">
                <a:solidFill>
                  <a:srgbClr val="1D2B3A"/>
                </a:solidFill>
                <a:latin typeface="Calibri"/>
              </a:rPr>
              <a:t> — Flight fastest by far.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D2B3A"/>
                </a:solidFill>
                <a:latin typeface="Calibri"/>
              </a:rPr>
              <a:t>●  Discovery, filtering and serialization are all kob's job — zero schema config.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074920" cy="1234440"/>
          </a:xfrm>
          <a:prstGeom prst="roundRect">
            <a:avLst/>
          </a:prstGeom>
          <a:solidFill>
            <a:srgbClr val="1E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28016" bIns="128016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6EDF3"/>
                </a:solidFill>
                <a:latin typeface="Consolas"/>
              </a:rPr>
              <a:t># install + launch the demo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6EDF3"/>
                </a:solidFill>
                <a:latin typeface="Consolas"/>
              </a:rPr>
              <a:t>uv sync --extra demo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6EDF3"/>
                </a:solidFill>
                <a:latin typeface="Consolas"/>
              </a:rPr>
              <a:t>make notebook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63240"/>
            <a:ext cx="5074920" cy="2468880"/>
          </a:xfrm>
          <a:prstGeom prst="roundRect">
            <a:avLst/>
          </a:prstGeom>
          <a:solidFill>
            <a:srgbClr val="1E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28016" bIns="128016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{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"dataset": "optionmetrics",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"columns": ["date","strike","impl_vol","delta"],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"filters": [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{"column":"underlying","op":"=","value":"AAPL"},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  {"column":"delta","op":"&gt;=","value":0.4}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  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6235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8A949E"/>
                </a:solidFill>
                <a:latin typeface="Calibri"/>
              </a:rPr>
              <a:t>notebooks/kob_transports_demo.ipynb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607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A9D8F"/>
                </a:solidFill>
                <a:latin typeface="Calibri"/>
              </a:rPr>
              <a:t>●  Use Arrow on the wire, default to Flight. </a:t>
            </a:r>
            <a:r>
              <a:rPr sz="1800" b="0" i="0">
                <a:solidFill>
                  <a:srgbClr val="DFEAE8"/>
                </a:solidFill>
                <a:latin typeface="Calibri"/>
              </a:rPr>
              <a:t>Not JSON (150–1750× slower, 8× heavier), not Protobuf (5–56× slower).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A9D8F"/>
                </a:solidFill>
                <a:latin typeface="Calibri"/>
              </a:rPr>
              <a:t>●  Self-discovering beats configured. </a:t>
            </a:r>
            <a:r>
              <a:rPr sz="1800" b="0" i="0">
                <a:solidFill>
                  <a:srgbClr val="DFEAE8"/>
                </a:solidFill>
                <a:latin typeface="Calibri"/>
              </a:rPr>
              <a:t>Point kob at a folder; new data appears live, no restart, no schema.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A9D8F"/>
                </a:solidFill>
                <a:latin typeface="Calibri"/>
              </a:rPr>
              <a:t>●  Minimal &amp; safe by construction. </a:t>
            </a:r>
            <a:r>
              <a:rPr sz="1800" b="0" i="0">
                <a:solidFill>
                  <a:srgbClr val="DFEAE8"/>
                </a:solidFill>
                <a:latin typeface="Calibri"/>
              </a:rPr>
              <a:t>Four deps, ~750-line core, read-only, parameterised, sandboxed.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A9D8F"/>
                </a:solidFill>
                <a:latin typeface="Calibri"/>
              </a:rPr>
              <a:t>●  It's the wire, not the engine. </a:t>
            </a:r>
            <a:r>
              <a:rPr sz="1800" b="0" i="0">
                <a:solidFill>
                  <a:srgbClr val="DFEAE8"/>
                </a:solidFill>
                <a:latin typeface="Calibri"/>
              </a:rPr>
              <a:t>Hold DuckDB constant and the format alone moves latency by 1750×.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57784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49E"/>
                </a:solidFill>
                <a:latin typeface="Calibri"/>
              </a:rPr>
              <a:t>README.md  ·  docs/DESIGN.md  ·  docs/PERFORMANCE_REPORT.md          </a:t>
            </a:r>
            <a:r>
              <a:rPr sz="1300" b="1" i="0">
                <a:solidFill>
                  <a:srgbClr val="2A9D8F"/>
                </a:solidFill>
                <a:latin typeface="Calibri"/>
              </a:rPr>
              <a:t>github.com/iyedexe/kob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